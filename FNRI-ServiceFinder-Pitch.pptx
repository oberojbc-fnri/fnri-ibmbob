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2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 agency has a Citizen Charter. Almost no citizen can use it. We fix that.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 11032 requires every agency to publish a Citizen Charter. The law is there. The information is there. But the format is built for compliance, not for citizens.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modes because different citizens think differently. The quiz is for first-time users who don't know what to search for.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 11032 mandates the same charter format for every agency — same columns, same structure. That's why one AI model works for all 1,800 agencies without retraining.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We're not building a one-off tool for FNRI. This is the infrastructure layer for the entire Philippine government.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Phase A proves the concept. Phase B turns FNRI into the template every other agency copies in 15 minutes.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ask is simple: let us launch FNRI as the proof of concept. Once it works, every other agency follows using the same upload tool.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itle"/>
          <p:cNvSpPr txBox="1"/>
          <p:nvPr/>
        </p:nvSpPr>
        <p:spPr>
          <a:xfrm>
            <a:off x="900000" y="1260000"/>
            <a:ext cx="1008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</a:rPr>
              <a:t>Citizen Charter</a:t>
            </a:r>
          </a:p>
          <a:p>
            <a:r>
              <a:rPr lang="en-US" sz="4400" b="1">
                <a:solidFill>
                  <a:srgbClr val="FFFFFF"/>
                </a:solidFill>
              </a:rPr>
              <a:t>Service Finder</a:t>
            </a:r>
          </a:p>
        </p:txBody>
      </p:sp>
      <p:sp>
        <p:nvSpPr>
          <p:cNvPr id="100001" name="Sub"/>
          <p:cNvSpPr txBox="1"/>
          <p:nvPr/>
        </p:nvSpPr>
        <p:spPr>
          <a:xfrm>
            <a:off x="900000" y="39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0">
                <a:solidFill>
                  <a:srgbClr val="A8C0E0"/>
                </a:solidFill>
              </a:rPr>
              <a:t>Find any government service in 60 seconds.</a:t>
            </a:r>
          </a:p>
        </p:txBody>
      </p:sp>
      <p:sp>
        <p:nvSpPr>
          <p:cNvPr id="100002" name="Byline"/>
          <p:cNvSpPr txBox="1"/>
          <p:nvPr/>
        </p:nvSpPr>
        <p:spPr>
          <a:xfrm>
            <a:off x="900000" y="468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0" dirty="0">
                <a:solidFill>
                  <a:srgbClr val="4A6A8A"/>
                </a:solidFill>
              </a:rPr>
              <a:t>IBM </a:t>
            </a:r>
            <a:r>
              <a:rPr lang="en-US" sz="1300" b="0" dirty="0" err="1">
                <a:solidFill>
                  <a:srgbClr val="4A6A8A"/>
                </a:solidFill>
              </a:rPr>
              <a:t>Bobaththon</a:t>
            </a:r>
            <a:r>
              <a:rPr lang="en-US" sz="1300" b="0" dirty="0">
                <a:solidFill>
                  <a:srgbClr val="4A6A8A"/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" name="Label"/>
          <p:cNvSpPr txBox="1"/>
          <p:nvPr/>
        </p:nvSpPr>
        <p:spPr>
          <a:xfrm>
            <a:off x="900000" y="432000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82D4"/>
                </a:solidFill>
              </a:rPr>
              <a:t>THE PROBLEM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900000" y="792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 dirty="0">
                <a:solidFill>
                  <a:srgbClr val="1F2328"/>
                </a:solidFill>
              </a:rPr>
              <a:t>Citizens can't use/utilize</a:t>
            </a:r>
          </a:p>
          <a:p>
            <a:r>
              <a:rPr lang="en-US" sz="3600" b="1" dirty="0">
                <a:solidFill>
                  <a:srgbClr val="1F2328"/>
                </a:solidFill>
              </a:rPr>
              <a:t>their own government.</a:t>
            </a:r>
          </a:p>
        </p:txBody>
      </p:sp>
      <p:sp>
        <p:nvSpPr>
          <p:cNvPr id="100005" name="B1"/>
          <p:cNvSpPr txBox="1"/>
          <p:nvPr/>
        </p:nvSpPr>
        <p:spPr>
          <a:xfrm>
            <a:off x="900000" y="252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dirty="0">
                <a:solidFill>
                  <a:srgbClr val="1F2328"/>
                </a:solidFill>
              </a:rPr>
              <a:t>- The Citizen Charter is a long PDF — not designed to be used</a:t>
            </a:r>
          </a:p>
        </p:txBody>
      </p:sp>
      <p:sp>
        <p:nvSpPr>
          <p:cNvPr id="100006" name="B2"/>
          <p:cNvSpPr txBox="1"/>
          <p:nvPr/>
        </p:nvSpPr>
        <p:spPr>
          <a:xfrm>
            <a:off x="900000" y="3092234"/>
            <a:ext cx="10080000" cy="223532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dirty="0">
                <a:solidFill>
                  <a:srgbClr val="1F2328"/>
                </a:solidFill>
              </a:rPr>
              <a:t>- Citizens don't know the service name, the office, or what to bring</a:t>
            </a:r>
          </a:p>
        </p:txBody>
      </p:sp>
      <p:sp>
        <p:nvSpPr>
          <p:cNvPr id="100007" name="B3"/>
          <p:cNvSpPr txBox="1"/>
          <p:nvPr/>
        </p:nvSpPr>
        <p:spPr>
          <a:xfrm>
            <a:off x="900000" y="3638603"/>
            <a:ext cx="10080000" cy="13879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dirty="0">
                <a:solidFill>
                  <a:srgbClr val="1F2328"/>
                </a:solidFill>
              </a:rPr>
              <a:t>- They call or visit in person just to ask basic questions</a:t>
            </a:r>
          </a:p>
        </p:txBody>
      </p:sp>
      <p:sp>
        <p:nvSpPr>
          <p:cNvPr id="100008" name="B4"/>
          <p:cNvSpPr txBox="1"/>
          <p:nvPr/>
        </p:nvSpPr>
        <p:spPr>
          <a:xfrm>
            <a:off x="900000" y="4168910"/>
            <a:ext cx="10080000" cy="8618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dirty="0">
                <a:solidFill>
                  <a:srgbClr val="1F2328"/>
                </a:solidFill>
              </a:rPr>
              <a:t>- 1,800+ agencies — no consistent way to find services across any of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9" name="Label"/>
          <p:cNvSpPr txBox="1"/>
          <p:nvPr/>
        </p:nvSpPr>
        <p:spPr>
          <a:xfrm>
            <a:off x="900000" y="432000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82D4"/>
                </a:solidFill>
              </a:rPr>
              <a:t>THE SOLUTION</a:t>
            </a:r>
          </a:p>
        </p:txBody>
      </p:sp>
      <p:sp>
        <p:nvSpPr>
          <p:cNvPr id="100010" name="Title"/>
          <p:cNvSpPr txBox="1"/>
          <p:nvPr/>
        </p:nvSpPr>
        <p:spPr>
          <a:xfrm>
            <a:off x="900000" y="792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2328"/>
                </a:solidFill>
              </a:rPr>
              <a:t>A free website that finds</a:t>
            </a:r>
          </a:p>
          <a:p>
            <a:r>
              <a:rPr lang="en-US" sz="3600" b="1">
                <a:solidFill>
                  <a:srgbClr val="1F2328"/>
                </a:solidFill>
              </a:rPr>
              <a:t>the right service for you.</a:t>
            </a:r>
          </a:p>
        </p:txBody>
      </p:sp>
      <p:sp>
        <p:nvSpPr>
          <p:cNvPr id="100011" name="M1"/>
          <p:cNvSpPr txBox="1"/>
          <p:nvPr/>
        </p:nvSpPr>
        <p:spPr>
          <a:xfrm>
            <a:off x="900000" y="252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1F2328"/>
                </a:solidFill>
              </a:rPr>
              <a:t>🔍  Search  —  Type what you need, get results instantly</a:t>
            </a:r>
          </a:p>
        </p:txBody>
      </p:sp>
      <p:sp>
        <p:nvSpPr>
          <p:cNvPr id="100012" name="M2"/>
          <p:cNvSpPr txBox="1"/>
          <p:nvPr/>
        </p:nvSpPr>
        <p:spPr>
          <a:xfrm>
            <a:off x="900000" y="3024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1F2328"/>
                </a:solidFill>
              </a:rPr>
              <a:t>📂  Browse  —  Explore agencies and service categories</a:t>
            </a:r>
          </a:p>
        </p:txBody>
      </p:sp>
      <p:sp>
        <p:nvSpPr>
          <p:cNvPr id="100013" name="M3"/>
          <p:cNvSpPr txBox="1"/>
          <p:nvPr/>
        </p:nvSpPr>
        <p:spPr>
          <a:xfrm>
            <a:off x="900000" y="3528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1F2328"/>
                </a:solidFill>
              </a:rPr>
              <a:t>❓  Guided Quiz  —  Answer 3 questions, get matched to your service</a:t>
            </a:r>
          </a:p>
        </p:txBody>
      </p:sp>
      <p:sp>
        <p:nvSpPr>
          <p:cNvPr id="100014" name="Footer"/>
          <p:cNvSpPr txBox="1"/>
          <p:nvPr/>
        </p:nvSpPr>
        <p:spPr>
          <a:xfrm>
            <a:off x="900000" y="4248000"/>
            <a:ext cx="100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57606A"/>
                </a:solidFill>
              </a:rPr>
              <a:t>Every result shows: what it is · who can apply · cost · processing time · what to bring · who to call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5" name="Label"/>
          <p:cNvSpPr txBox="1"/>
          <p:nvPr/>
        </p:nvSpPr>
        <p:spPr>
          <a:xfrm>
            <a:off x="900000" y="432000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82D4"/>
                </a:solidFill>
              </a:rPr>
              <a:t>HOW IT WORKS</a:t>
            </a:r>
          </a:p>
        </p:txBody>
      </p:sp>
      <p:sp>
        <p:nvSpPr>
          <p:cNvPr id="100016" name="Title"/>
          <p:cNvSpPr txBox="1"/>
          <p:nvPr/>
        </p:nvSpPr>
        <p:spPr>
          <a:xfrm>
            <a:off x="900000" y="792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2328"/>
                </a:solidFill>
              </a:rPr>
              <a:t>Any agency live in</a:t>
            </a:r>
          </a:p>
          <a:p>
            <a:r>
              <a:rPr lang="en-US" sz="3600" b="1">
                <a:solidFill>
                  <a:srgbClr val="1F2328"/>
                </a:solidFill>
              </a:rPr>
              <a:t>15 minutes. No developer.</a:t>
            </a:r>
          </a:p>
        </p:txBody>
      </p:sp>
      <p:sp>
        <p:nvSpPr>
          <p:cNvPr id="100017" name="S1"/>
          <p:cNvSpPr txBox="1"/>
          <p:nvPr/>
        </p:nvSpPr>
        <p:spPr>
          <a:xfrm>
            <a:off x="900000" y="252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1F2328"/>
                </a:solidFill>
              </a:rPr>
              <a:t>1  Upload your Citizen Charter PDF</a:t>
            </a:r>
          </a:p>
        </p:txBody>
      </p:sp>
      <p:sp>
        <p:nvSpPr>
          <p:cNvPr id="100018" name="S2"/>
          <p:cNvSpPr txBox="1"/>
          <p:nvPr/>
        </p:nvSpPr>
        <p:spPr>
          <a:xfrm>
            <a:off x="900000" y="3024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1F2328"/>
                </a:solidFill>
              </a:rPr>
              <a:t>2  IBM watsonx reads it and extracts every service automatically</a:t>
            </a:r>
          </a:p>
        </p:txBody>
      </p:sp>
      <p:sp>
        <p:nvSpPr>
          <p:cNvPr id="100019" name="S3"/>
          <p:cNvSpPr txBox="1"/>
          <p:nvPr/>
        </p:nvSpPr>
        <p:spPr>
          <a:xfrm>
            <a:off x="900000" y="3528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1F2328"/>
                </a:solidFill>
              </a:rPr>
              <a:t>3  Staff reviews and edits if needed</a:t>
            </a:r>
          </a:p>
        </p:txBody>
      </p:sp>
      <p:sp>
        <p:nvSpPr>
          <p:cNvPr id="100020" name="S4"/>
          <p:cNvSpPr txBox="1"/>
          <p:nvPr/>
        </p:nvSpPr>
        <p:spPr>
          <a:xfrm>
            <a:off x="900000" y="4032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1A7F37"/>
                </a:solidFill>
              </a:rPr>
              <a:t>4  Click Publish — citizens can find services immediately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1" name="Label"/>
          <p:cNvSpPr txBox="1"/>
          <p:nvPr/>
        </p:nvSpPr>
        <p:spPr>
          <a:xfrm>
            <a:off x="900000" y="432000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82D4"/>
                </a:solidFill>
              </a:rPr>
              <a:t>SCALE</a:t>
            </a:r>
          </a:p>
        </p:txBody>
      </p:sp>
      <p:sp>
        <p:nvSpPr>
          <p:cNvPr id="100022" name="Title"/>
          <p:cNvSpPr txBox="1"/>
          <p:nvPr/>
        </p:nvSpPr>
        <p:spPr>
          <a:xfrm>
            <a:off x="900000" y="792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2328"/>
                </a:solidFill>
              </a:rPr>
              <a:t>Built for FNRI.</a:t>
            </a:r>
          </a:p>
          <a:p>
            <a:r>
              <a:rPr lang="en-US" sz="3600" b="1">
                <a:solidFill>
                  <a:srgbClr val="1F2328"/>
                </a:solidFill>
              </a:rPr>
              <a:t>Ready for all of government.</a:t>
            </a:r>
          </a:p>
        </p:txBody>
      </p:sp>
      <p:sp>
        <p:nvSpPr>
          <p:cNvPr id="100023" name="Stat1N"/>
          <p:cNvSpPr txBox="1"/>
          <p:nvPr/>
        </p:nvSpPr>
        <p:spPr>
          <a:xfrm>
            <a:off x="900000" y="2592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3B82D4"/>
                </a:solidFill>
              </a:rPr>
              <a:t>1,800+</a:t>
            </a:r>
          </a:p>
        </p:txBody>
      </p:sp>
      <p:sp>
        <p:nvSpPr>
          <p:cNvPr id="100024" name="Stat1L"/>
          <p:cNvSpPr txBox="1"/>
          <p:nvPr/>
        </p:nvSpPr>
        <p:spPr>
          <a:xfrm>
            <a:off x="900000" y="3348000"/>
            <a:ext cx="28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57606A"/>
                </a:solidFill>
              </a:rPr>
              <a:t>agencies required</a:t>
            </a:r>
          </a:p>
          <a:p>
            <a:r>
              <a:rPr lang="en-US" sz="1400">
                <a:solidFill>
                  <a:srgbClr val="57606A"/>
                </a:solidFill>
              </a:rPr>
              <a:t>by law to have a charter</a:t>
            </a:r>
          </a:p>
        </p:txBody>
      </p:sp>
      <p:sp>
        <p:nvSpPr>
          <p:cNvPr id="100025" name="Stat2N"/>
          <p:cNvSpPr txBox="1"/>
          <p:nvPr/>
        </p:nvSpPr>
        <p:spPr>
          <a:xfrm>
            <a:off x="4680000" y="2592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3B82D4"/>
                </a:solidFill>
              </a:rPr>
              <a:t>15 min</a:t>
            </a:r>
          </a:p>
        </p:txBody>
      </p:sp>
      <p:sp>
        <p:nvSpPr>
          <p:cNvPr id="100026" name="Stat2L"/>
          <p:cNvSpPr txBox="1"/>
          <p:nvPr/>
        </p:nvSpPr>
        <p:spPr>
          <a:xfrm>
            <a:off x="4680000" y="3348000"/>
            <a:ext cx="28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57606A"/>
                </a:solidFill>
              </a:rPr>
              <a:t>to onboard</a:t>
            </a:r>
          </a:p>
          <a:p>
            <a:r>
              <a:rPr lang="en-US" sz="1400">
                <a:solidFill>
                  <a:srgbClr val="57606A"/>
                </a:solidFill>
              </a:rPr>
              <a:t>any agency</a:t>
            </a:r>
          </a:p>
        </p:txBody>
      </p:sp>
      <p:sp>
        <p:nvSpPr>
          <p:cNvPr id="100027" name="Stat3N"/>
          <p:cNvSpPr txBox="1"/>
          <p:nvPr/>
        </p:nvSpPr>
        <p:spPr>
          <a:xfrm>
            <a:off x="8460000" y="2592000"/>
            <a:ext cx="21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3B82D4"/>
                </a:solidFill>
              </a:rPr>
              <a:t>3</a:t>
            </a:r>
          </a:p>
        </p:txBody>
      </p:sp>
      <p:sp>
        <p:nvSpPr>
          <p:cNvPr id="100028" name="Stat3L"/>
          <p:cNvSpPr txBox="1"/>
          <p:nvPr/>
        </p:nvSpPr>
        <p:spPr>
          <a:xfrm>
            <a:off x="8460000" y="3348000"/>
            <a:ext cx="25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57606A"/>
                </a:solidFill>
              </a:rPr>
              <a:t>agencies ready</a:t>
            </a:r>
          </a:p>
          <a:p>
            <a:r>
              <a:rPr lang="en-US" sz="1400">
                <a:solidFill>
                  <a:srgbClr val="57606A"/>
                </a:solidFill>
              </a:rPr>
              <a:t>to go today</a:t>
            </a:r>
          </a:p>
          <a:p>
            <a:r>
              <a:rPr lang="en-US" sz="1400">
                <a:solidFill>
                  <a:srgbClr val="57606A"/>
                </a:solidFill>
              </a:rPr>
              <a:t>(FNRI · PNRI · SEI)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9" name="Label"/>
          <p:cNvSpPr txBox="1"/>
          <p:nvPr/>
        </p:nvSpPr>
        <p:spPr>
          <a:xfrm>
            <a:off x="900000" y="432000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82D4"/>
                </a:solidFill>
              </a:rPr>
              <a:t>ROADMAP</a:t>
            </a:r>
          </a:p>
        </p:txBody>
      </p:sp>
      <p:sp>
        <p:nvSpPr>
          <p:cNvPr id="100030" name="Title"/>
          <p:cNvSpPr txBox="1"/>
          <p:nvPr/>
        </p:nvSpPr>
        <p:spPr>
          <a:xfrm>
            <a:off x="900000" y="792000"/>
            <a:ext cx="100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2328"/>
                </a:solidFill>
              </a:rPr>
              <a:t>Two phases.</a:t>
            </a:r>
          </a:p>
          <a:p>
            <a:r>
              <a:rPr lang="en-US" sz="3600" b="1">
                <a:solidFill>
                  <a:srgbClr val="1F2328"/>
                </a:solidFill>
              </a:rPr>
              <a:t>FNRI first, then everyone.</a:t>
            </a:r>
          </a:p>
        </p:txBody>
      </p:sp>
      <p:sp>
        <p:nvSpPr>
          <p:cNvPr id="100031" name="PA"/>
          <p:cNvSpPr txBox="1"/>
          <p:nvPr/>
        </p:nvSpPr>
        <p:spPr>
          <a:xfrm>
            <a:off x="900000" y="2592000"/>
            <a:ext cx="100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1A7F37"/>
                </a:solidFill>
              </a:rPr>
              <a:t>Phase A  —  FNRI Pilot</a:t>
            </a:r>
          </a:p>
        </p:txBody>
      </p:sp>
      <p:sp>
        <p:nvSpPr>
          <p:cNvPr id="100032" name="PAB"/>
          <p:cNvSpPr txBox="1"/>
          <p:nvPr/>
        </p:nvSpPr>
        <p:spPr>
          <a:xfrm>
            <a:off x="900000" y="2952000"/>
            <a:ext cx="100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1F2328"/>
                </a:solidFill>
              </a:rPr>
              <a:t>Build the Service Finder  ·  All 38 FNRI services searchable  ·  Live on mobile</a:t>
            </a:r>
          </a:p>
        </p:txBody>
      </p:sp>
      <p:sp>
        <p:nvSpPr>
          <p:cNvPr id="100033" name="PB"/>
          <p:cNvSpPr txBox="1"/>
          <p:nvPr/>
        </p:nvSpPr>
        <p:spPr>
          <a:xfrm>
            <a:off x="900000" y="3528000"/>
            <a:ext cx="100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3B82D4"/>
                </a:solidFill>
              </a:rPr>
              <a:t>Phase B  —  Multi-Agency Platform</a:t>
            </a:r>
          </a:p>
        </p:txBody>
      </p:sp>
      <p:sp>
        <p:nvSpPr>
          <p:cNvPr id="100034" name="PBB"/>
          <p:cNvSpPr txBox="1"/>
          <p:nvPr/>
        </p:nvSpPr>
        <p:spPr>
          <a:xfrm>
            <a:off x="900000" y="3888000"/>
            <a:ext cx="100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1F2328"/>
                </a:solidFill>
              </a:rPr>
              <a:t>Agency theming  ·  AI upload tool  ·  PNRI + SEI onboarded  ·  Cross-agency 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5" name="Label"/>
          <p:cNvSpPr txBox="1"/>
          <p:nvPr/>
        </p:nvSpPr>
        <p:spPr>
          <a:xfrm>
            <a:off x="900000" y="432000"/>
            <a:ext cx="100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3B82D4"/>
                </a:solidFill>
              </a:rPr>
              <a:t>THE ASK</a:t>
            </a:r>
          </a:p>
        </p:txBody>
      </p:sp>
      <p:sp>
        <p:nvSpPr>
          <p:cNvPr id="100036" name="Title"/>
          <p:cNvSpPr txBox="1"/>
          <p:nvPr/>
        </p:nvSpPr>
        <p:spPr>
          <a:xfrm>
            <a:off x="900000" y="900000"/>
            <a:ext cx="1008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FFFFFF"/>
                </a:solidFill>
              </a:rPr>
              <a:t>Let FNRI be the</a:t>
            </a:r>
          </a:p>
          <a:p>
            <a:r>
              <a:rPr lang="en-US" sz="4000" b="1">
                <a:solidFill>
                  <a:srgbClr val="FFFFFF"/>
                </a:solidFill>
              </a:rPr>
              <a:t>proof of concept.</a:t>
            </a:r>
          </a:p>
        </p:txBody>
      </p:sp>
      <p:sp>
        <p:nvSpPr>
          <p:cNvPr id="100037" name="M1"/>
          <p:cNvSpPr txBox="1"/>
          <p:nvPr/>
        </p:nvSpPr>
        <p:spPr>
          <a:xfrm>
            <a:off x="900000" y="2952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A8C0E0"/>
                </a:solidFill>
              </a:rPr>
              <a:t>✓  Citizens find any FNRI service in under 60 seconds</a:t>
            </a:r>
          </a:p>
        </p:txBody>
      </p:sp>
      <p:sp>
        <p:nvSpPr>
          <p:cNvPr id="100038" name="M2"/>
          <p:cNvSpPr txBox="1"/>
          <p:nvPr/>
        </p:nvSpPr>
        <p:spPr>
          <a:xfrm>
            <a:off x="900000" y="342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A8C0E0"/>
                </a:solidFill>
              </a:rPr>
              <a:t>✓  Any agency onboards in 15 minutes — no developer, no coding</a:t>
            </a:r>
          </a:p>
        </p:txBody>
      </p:sp>
      <p:sp>
        <p:nvSpPr>
          <p:cNvPr id="100039" name="M3"/>
          <p:cNvSpPr txBox="1"/>
          <p:nvPr/>
        </p:nvSpPr>
        <p:spPr>
          <a:xfrm>
            <a:off x="900000" y="3888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A8C0E0"/>
                </a:solidFill>
              </a:rPr>
              <a:t>✓  One platform. 1,800 agencies. Every Filipino citizen.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501</Words>
  <Application>Microsoft Office PowerPoint</Application>
  <PresentationFormat>Widescreen</PresentationFormat>
  <Paragraphs>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oberojbc.fnri</cp:lastModifiedBy>
  <cp:revision>5</cp:revision>
  <dcterms:created xsi:type="dcterms:W3CDTF">2026-10-14T05:48:37Z</dcterms:created>
  <dcterms:modified xsi:type="dcterms:W3CDTF">2026-10-14T05:58:35Z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1.0.157</vt:lpwstr>
  </property>
  <property fmtid="{D5CDD505-2E9C-101B-9397-08002B2CF9AE}" pid="3" name="OfficeCLI.LastModified">
    <vt:lpwstr>2026-10-14T05:48:38Z</vt:lpwstr>
  </property>
</Properties>
</file>